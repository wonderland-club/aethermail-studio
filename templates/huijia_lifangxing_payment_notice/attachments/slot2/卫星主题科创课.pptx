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用户在对话中提供的课程设计大纲、三张PPT截图与优化报告。
- 图片素材：用户提供截图裁切图，及本次会话中生成的航天背景/火箭发射/硬件套件示意图。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用户在对话中提供的课程设计大纲、三张PPT截图与优化报告。
- 图片素材：用户提供截图裁切图，及本次会话中生成的航天背景/火箭发射/硬件套件示意图。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用户在对话中提供的课程设计大纲、三张PPT截图与优化报告。
- 图片素材：用户提供截图裁切图，及本次会话中生成的航天背景/火箭发射/硬件套件示意图。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用户在对话中提供的课程设计大纲、三张PPT截图与优化报告。
- 图片素材：用户提供截图裁切图，及本次会话中生成的航天背景/火箭发射/硬件套件示意图。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">
    <p:bg>
      <p:bgPr>
        <a:solidFill>
          <a:srgbClr val="0814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28232"/>
            <a:ext cx="320040" cy="20116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1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28232"/>
            <a:ext cx="320040" cy="20116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1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photograph_captures_a_powerful_rocket_la.png"/>
          <p:cNvPicPr>
            <a:picLocks noChangeAspect="1"/>
          </p:cNvPicPr>
          <p:nvPr/>
        </p:nvPicPr>
        <p:blipFill>
          <a:blip r:embed="rId1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749808"/>
            <a:ext cx="4206240" cy="502920"/>
          </a:xfrm>
          <a:prstGeom prst="rect">
            <a:avLst/>
          </a:prstGeom>
          <a:noFill/>
          <a:effectLst>
            <a:outerShdw blurRad="25400" dist="12700" dir="2700000" algn="bl" rotWithShape="0">
              <a:srgbClr val="00000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5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把立方星送上天</a:t>
            </a:r>
            <a:endParaRPr lang="en-US" sz="315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76656" y="1325880"/>
            <a:ext cx="4572000" cy="256032"/>
          </a:xfrm>
          <a:prstGeom prst="rect">
            <a:avLst/>
          </a:prstGeom>
          <a:noFill/>
          <a:effectLst>
            <a:outerShdw blurRad="322580000" dist="161290000" dir="-1" algn="bl" rotWithShape="0">
              <a:srgbClr val="000000">
                <a:alpha val="2147483647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2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中学生自研立方星 × 探空火箭全周期任务</a:t>
            </a:r>
            <a:endParaRPr lang="en-US" sz="1820" b="1" dirty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12064" y="5486400"/>
            <a:ext cx="4956048" cy="841248"/>
          </a:xfrm>
          <a:prstGeom prst="roundRect">
            <a:avLst>
              <a:gd name="adj" fmla="val 5435"/>
            </a:avLst>
          </a:prstGeom>
          <a:solidFill>
            <a:srgbClr val="08142C">
              <a:alpha val="84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" y="5687568"/>
            <a:ext cx="1234440" cy="329184"/>
          </a:xfrm>
          <a:prstGeom prst="roundRect">
            <a:avLst>
              <a:gd name="adj" fmla="val 22222"/>
            </a:avLst>
          </a:prstGeom>
          <a:solidFill>
            <a:srgbClr val="0E5EA3">
              <a:alpha val="88000"/>
            </a:srgbClr>
          </a:solidFill>
          <a:ln w="12700">
            <a:solidFill>
              <a:srgbClr val="0E5EA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5779008"/>
            <a:ext cx="123444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真任务</a:t>
            </a:r>
            <a:endParaRPr lang="en-US" sz="15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212848" y="568756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0C8B7E">
              <a:alpha val="88000"/>
            </a:srgbClr>
          </a:solidFill>
          <a:ln w="12700">
            <a:solidFill>
              <a:srgbClr val="0C8B7E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212848" y="5779008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真测试</a:t>
            </a:r>
            <a:endParaRPr lang="en-US" sz="15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3749040" y="5687568"/>
            <a:ext cx="1325880" cy="329184"/>
          </a:xfrm>
          <a:prstGeom prst="roundRect">
            <a:avLst>
              <a:gd name="adj" fmla="val 22222"/>
            </a:avLst>
          </a:prstGeom>
          <a:solidFill>
            <a:srgbClr val="B36B16">
              <a:alpha val="88000"/>
            </a:srgbClr>
          </a:solidFill>
          <a:ln w="12700">
            <a:solidFill>
              <a:srgbClr val="B36B16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49040" y="5779008"/>
            <a:ext cx="1325880" cy="128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真发射</a:t>
            </a:r>
            <a:endParaRPr lang="en-US" sz="15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493385" y="5486400"/>
            <a:ext cx="6028055" cy="714375"/>
          </a:xfrm>
          <a:prstGeom prst="rect">
            <a:avLst/>
          </a:prstGeom>
          <a:noFill/>
          <a:effectLst>
            <a:outerShdw blurRad="2147483647" dist="2147483647" dir="3" algn="bl" rotWithShape="0">
              <a:srgbClr val="000000">
                <a:alpha val="2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rgbClr val="D8E7FF"/>
                </a:solidFill>
                <a:latin typeface="黑体" charset="0"/>
                <a:ea typeface="黑体" charset="0"/>
                <a:cs typeface="Noto Sans CJK SC" pitchFamily="34" charset="-120"/>
              </a:rPr>
              <a:t>如果你天生就想做更难的事，这门课就是给你的。</a:t>
            </a:r>
            <a:endParaRPr lang="en-US" sz="2000" dirty="0">
              <a:solidFill>
                <a:srgbClr val="D8E7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28232"/>
            <a:ext cx="320040" cy="20116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1">
                <a:latin typeface="黑体" charset="0"/>
                <a:ea typeface="黑体" charset="0"/>
              </a:rPr>
            </a:fld>
            <a:endParaRPr lang="en-US" b="1"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space_themed_digital_illustration_shows.png"/>
          <p:cNvPicPr>
            <a:picLocks noChangeAspect="1"/>
          </p:cNvPicPr>
          <p:nvPr/>
        </p:nvPicPr>
        <p:blipFill>
          <a:blip r:embed="rId1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048" y="256032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103968">
              <a:alpha val="82000"/>
            </a:srgbClr>
          </a:solidFill>
          <a:ln w="12700">
            <a:solidFill>
              <a:srgbClr val="36D7FF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310896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WHY JOIN</a:t>
            </a:r>
            <a:endParaRPr lang="en-US" sz="15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0624" y="658368"/>
            <a:ext cx="8046720" cy="402336"/>
          </a:xfrm>
          <a:prstGeom prst="rect">
            <a:avLst/>
          </a:prstGeom>
          <a:noFill/>
          <a:effectLst>
            <a:outerShdw blurRad="2147483647" dist="2147483647" dir="4" algn="bl" rotWithShape="0">
              <a:srgbClr val="000000">
                <a:alpha val="2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为什么值得来：身份、门槛、成果、资源</a:t>
            </a:r>
            <a:endParaRPr lang="en-US" sz="29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8912" y="1097280"/>
            <a:ext cx="8138160" cy="201168"/>
          </a:xfrm>
          <a:prstGeom prst="rect">
            <a:avLst/>
          </a:prstGeom>
          <a:noFill/>
          <a:effectLst>
            <a:outerShdw blurRad="2147483647" dist="2147483647" dir="2" algn="bl" rotWithShape="0">
              <a:srgbClr val="000000">
                <a:alpha val="2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高中生真正会被打动的，不是“好玩”，而是“真的难、真的酷、真的能做成”。</a:t>
            </a:r>
            <a:endParaRPr lang="en-US" sz="146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7" name="Image 1" descr="/mnt/data/student_lab_photo.png"/>
          <p:cNvPicPr>
            <a:picLocks noChangeAspect="1"/>
          </p:cNvPicPr>
          <p:nvPr/>
        </p:nvPicPr>
        <p:blipFill>
          <a:blip r:embed="rId2"/>
          <a:srcRect l="16240" r="16240"/>
          <a:stretch>
            <a:fillRect/>
          </a:stretch>
        </p:blipFill>
        <p:spPr>
          <a:xfrm>
            <a:off x="512064" y="1572768"/>
            <a:ext cx="4160520" cy="45262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956048" y="1591056"/>
            <a:ext cx="6400800" cy="969264"/>
          </a:xfrm>
          <a:prstGeom prst="roundRect">
            <a:avLst>
              <a:gd name="adj" fmla="val 4717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065776" y="1700784"/>
            <a:ext cx="54864" cy="749808"/>
          </a:xfrm>
          <a:prstGeom prst="rect">
            <a:avLst/>
          </a:prstGeom>
          <a:solidFill>
            <a:srgbClr val="36D7FF"/>
          </a:solidFill>
          <a:ln w="12700">
            <a:solidFill>
              <a:srgbClr val="36D7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175504" y="1682496"/>
            <a:ext cx="6108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身份感：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5175504" y="1920240"/>
            <a:ext cx="6108192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你不是来旁观的。你会担任总师 / 结构 / 主控 / 通信 / 地面站等真实角色。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956048" y="2706624"/>
            <a:ext cx="6400800" cy="969264"/>
          </a:xfrm>
          <a:prstGeom prst="roundRect">
            <a:avLst>
              <a:gd name="adj" fmla="val 4717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65776" y="2816352"/>
            <a:ext cx="54864" cy="74980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75504" y="2798064"/>
            <a:ext cx="6108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门槛感：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175504" y="3035808"/>
            <a:ext cx="6108192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Noto Sans CJK SC" pitchFamily="34" charset="-120"/>
              </a:rPr>
              <a:t>不是拼装体验。没通过联调、拉距和吊飞测试，就没有资格上场。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956048" y="3822192"/>
            <a:ext cx="6400800" cy="969264"/>
          </a:xfrm>
          <a:prstGeom prst="roundRect">
            <a:avLst>
              <a:gd name="adj" fmla="val 4717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65776" y="3931920"/>
            <a:ext cx="54864" cy="749808"/>
          </a:xfrm>
          <a:prstGeom prst="rect">
            <a:avLst/>
          </a:prstGeom>
          <a:solidFill>
            <a:srgbClr val="37E1C3"/>
          </a:solidFill>
          <a:ln w="12700">
            <a:solidFill>
              <a:srgbClr val="37E1C3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75504" y="3913632"/>
            <a:ext cx="6108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成果感：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5175504" y="4151376"/>
            <a:ext cx="6108192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Noto Sans CJK SC" pitchFamily="34" charset="-120"/>
              </a:rPr>
              <a:t>你会带走可展示的立方星作品、工程日志、测试报告、真实飞行数据与终期答辩材料。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4956048" y="4937760"/>
            <a:ext cx="6400800" cy="969264"/>
          </a:xfrm>
          <a:prstGeom prst="roundRect">
            <a:avLst>
              <a:gd name="adj" fmla="val 4717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65776" y="5047488"/>
            <a:ext cx="54864" cy="749808"/>
          </a:xfrm>
          <a:prstGeom prst="rect">
            <a:avLst/>
          </a:prstGeom>
          <a:solidFill>
            <a:srgbClr val="C79CFF"/>
          </a:solidFill>
          <a:ln w="12700">
            <a:solidFill>
              <a:srgbClr val="C79CFF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175504" y="5029200"/>
            <a:ext cx="6108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资源感：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5175504" y="5266944"/>
            <a:ext cx="6108192" cy="5852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Noto Sans CJK SC" pitchFamily="34" charset="-120"/>
              </a:rPr>
              <a:t>北航实验室、外场吊飞、火箭任务、工程师指导，全程像工程团队一样推进。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28232"/>
            <a:ext cx="320040" cy="20116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1">
                <a:latin typeface="黑体" charset="0"/>
                <a:ea typeface="黑体" charset="0"/>
              </a:rPr>
            </a:fld>
            <a:endParaRPr lang="en-US" b="1"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space_themed_digital_illustration_shows.png"/>
          <p:cNvPicPr>
            <a:picLocks noChangeAspect="1"/>
          </p:cNvPicPr>
          <p:nvPr/>
        </p:nvPicPr>
        <p:blipFill>
          <a:blip r:embed="rId1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048" y="256032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103968">
              <a:alpha val="82000"/>
            </a:srgbClr>
          </a:solidFill>
          <a:ln w="12700">
            <a:solidFill>
              <a:srgbClr val="36D7FF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310896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5 GATES</a:t>
            </a:r>
            <a:endParaRPr lang="en-US" sz="15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0624" y="658368"/>
            <a:ext cx="8046720" cy="402336"/>
          </a:xfrm>
          <a:prstGeom prst="rect">
            <a:avLst/>
          </a:prstGeom>
          <a:noFill/>
          <a:effectLst>
            <a:outerShdw blurRad="2147483647" dist="2147483647" dir="1" algn="bl" rotWithShape="0">
              <a:srgbClr val="000000">
                <a:alpha val="2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五关任务地图：每一关都要拿证据说话</a:t>
            </a:r>
            <a:endParaRPr lang="en-US" sz="29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8912" y="1097280"/>
            <a:ext cx="8138160" cy="201168"/>
          </a:xfrm>
          <a:prstGeom prst="rect">
            <a:avLst/>
          </a:prstGeom>
          <a:noFill/>
          <a:effectLst>
            <a:outerShdw blurRad="2147483647" dist="2147483647" dir="9" algn="bl" rotWithShape="0">
              <a:srgbClr val="000000">
                <a:alpha val="2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D8E7FF"/>
                </a:solidFill>
                <a:latin typeface="黑体" charset="0"/>
                <a:ea typeface="黑体" charset="0"/>
                <a:cs typeface="Noto Sans CJK SC" pitchFamily="34" charset="-120"/>
              </a:rPr>
              <a:t>不是一次性做对，而是靠评审、测试、记录与复盘，把不确定性一点点压下去。</a:t>
            </a:r>
            <a:endParaRPr lang="en-US" sz="1460" dirty="0">
              <a:solidFill>
                <a:srgbClr val="D8E7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11810" y="1554480"/>
            <a:ext cx="3632835" cy="786130"/>
          </a:xfrm>
          <a:prstGeom prst="roundRect">
            <a:avLst>
              <a:gd name="adj" fmla="val 581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1664208"/>
            <a:ext cx="54864" cy="566928"/>
          </a:xfrm>
          <a:prstGeom prst="rect">
            <a:avLst/>
          </a:prstGeom>
          <a:solidFill>
            <a:srgbClr val="36D7FF"/>
          </a:solidFill>
          <a:ln w="12700">
            <a:solidFill>
              <a:srgbClr val="36D7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645920"/>
            <a:ext cx="6108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01 任务定义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1883664"/>
            <a:ext cx="6108192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成功判据、角色分工、项目计划</a:t>
            </a:r>
            <a:endParaRPr lang="en-US" sz="1330" dirty="0">
              <a:latin typeface="黑体" charset="0"/>
              <a:ea typeface="黑体" charset="0"/>
              <a:cs typeface="黑体" charset="0"/>
            </a:endParaRPr>
          </a:p>
          <a:p>
            <a:pPr marL="0" indent="0">
              <a:buNone/>
            </a:pPr>
            <a:r>
              <a:rPr lang="en-US" sz="133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输出：CMRS + 工程日志模板</a:t>
            </a:r>
            <a:endParaRPr lang="en-US" sz="133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11810" y="2450465"/>
            <a:ext cx="3627120" cy="786130"/>
          </a:xfrm>
          <a:prstGeom prst="roundRect">
            <a:avLst>
              <a:gd name="adj" fmla="val 581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2560320"/>
            <a:ext cx="54864" cy="566928"/>
          </a:xfrm>
          <a:prstGeom prst="rect">
            <a:avLst/>
          </a:prstGeom>
          <a:solidFill>
            <a:srgbClr val="37E1C3"/>
          </a:solidFill>
          <a:ln w="12700">
            <a:solidFill>
              <a:srgbClr val="37E1C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542032"/>
            <a:ext cx="6108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02 设计制造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1520" y="2779776"/>
            <a:ext cx="6108192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建模、3D打印、ESP32、LoRa、PCB</a:t>
            </a:r>
            <a:endParaRPr lang="en-US" sz="1330" dirty="0">
              <a:latin typeface="黑体" charset="0"/>
              <a:ea typeface="黑体" charset="0"/>
              <a:cs typeface="黑体" charset="0"/>
            </a:endParaRPr>
          </a:p>
          <a:p>
            <a:pPr marL="0" indent="0">
              <a:buNone/>
            </a:pPr>
            <a:r>
              <a:rPr lang="en-US" sz="133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输出：结构图 + PCB图 + 分系统样机</a:t>
            </a:r>
            <a:endParaRPr lang="en-US" sz="133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11810" y="3346450"/>
            <a:ext cx="3639185" cy="786130"/>
          </a:xfrm>
          <a:prstGeom prst="roundRect">
            <a:avLst>
              <a:gd name="adj" fmla="val 581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3456432"/>
            <a:ext cx="54864" cy="566928"/>
          </a:xfrm>
          <a:prstGeom prst="rect">
            <a:avLst/>
          </a:prstGeom>
          <a:solidFill>
            <a:srgbClr val="66C6FF"/>
          </a:solidFill>
          <a:ln w="12700">
            <a:solidFill>
              <a:srgbClr val="66C6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3438144"/>
            <a:ext cx="6108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03 集成测试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31520" y="3675888"/>
            <a:ext cx="6108192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桌面联调、拉距、吊飞，暴露失败模式</a:t>
            </a:r>
            <a:endParaRPr lang="en-US" sz="1330" dirty="0">
              <a:latin typeface="黑体" charset="0"/>
              <a:ea typeface="黑体" charset="0"/>
              <a:cs typeface="黑体" charset="0"/>
            </a:endParaRPr>
          </a:p>
          <a:p>
            <a:pPr marL="0" indent="0">
              <a:buNone/>
            </a:pPr>
            <a:r>
              <a:rPr lang="en-US" sz="133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输出：测试记录 + 风险清单 + 改进闭环</a:t>
            </a:r>
            <a:endParaRPr lang="en-US" sz="133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11810" y="4243070"/>
            <a:ext cx="3639185" cy="786130"/>
          </a:xfrm>
          <a:prstGeom prst="roundRect">
            <a:avLst>
              <a:gd name="adj" fmla="val 581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" y="4352544"/>
            <a:ext cx="54864" cy="56692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4334510"/>
            <a:ext cx="3472180" cy="20129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04 发射执行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31520" y="4572000"/>
            <a:ext cx="6108192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倒计时、检查、发射、回收、归档</a:t>
            </a:r>
            <a:endParaRPr lang="en-US" sz="1330" dirty="0">
              <a:latin typeface="黑体" charset="0"/>
              <a:ea typeface="黑体" charset="0"/>
              <a:cs typeface="黑体" charset="0"/>
            </a:endParaRPr>
          </a:p>
          <a:p>
            <a:pPr marL="0" indent="0">
              <a:buNone/>
            </a:pPr>
            <a:r>
              <a:rPr lang="en-US" sz="133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输出：现场日志 + 遥测/星载数据</a:t>
            </a:r>
            <a:endParaRPr lang="en-US" sz="133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11810" y="5139055"/>
            <a:ext cx="3639185" cy="786130"/>
          </a:xfrm>
          <a:prstGeom prst="roundRect">
            <a:avLst>
              <a:gd name="adj" fmla="val 581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" y="5248656"/>
            <a:ext cx="54864" cy="566928"/>
          </a:xfrm>
          <a:prstGeom prst="rect">
            <a:avLst/>
          </a:prstGeom>
          <a:solidFill>
            <a:srgbClr val="FF8A63"/>
          </a:solidFill>
          <a:ln w="12700">
            <a:solidFill>
              <a:srgbClr val="FF8A6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31520" y="5230368"/>
            <a:ext cx="610819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05 数据答辩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31520" y="5468112"/>
            <a:ext cx="6108192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图表、结论、局限、下一代方案</a:t>
            </a:r>
            <a:endParaRPr lang="en-US" sz="1330" dirty="0">
              <a:latin typeface="黑体" charset="0"/>
              <a:ea typeface="黑体" charset="0"/>
              <a:cs typeface="黑体" charset="0"/>
            </a:endParaRPr>
          </a:p>
          <a:p>
            <a:pPr marL="0" indent="0">
              <a:buNone/>
            </a:pPr>
            <a:r>
              <a:rPr lang="en-US" sz="133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输出：结题报告 + 汇报PPT + 作品集</a:t>
            </a:r>
            <a:endParaRPr lang="en-US" sz="133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7948930" y="1554480"/>
            <a:ext cx="4023360" cy="1234440"/>
          </a:xfrm>
          <a:prstGeom prst="roundRect">
            <a:avLst>
              <a:gd name="adj" fmla="val 370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58658" y="1664081"/>
            <a:ext cx="54864" cy="101498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68386" y="1645793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这一页你要记住一句话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168640" y="1883410"/>
            <a:ext cx="3844290" cy="8502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8E7FF"/>
                </a:solidFill>
                <a:latin typeface="黑体" charset="0"/>
                <a:ea typeface="黑体" charset="0"/>
                <a:cs typeface="Noto Sans CJK SC" pitchFamily="34" charset="-120"/>
              </a:rPr>
              <a:t>工程不是一次做对，</a:t>
            </a:r>
            <a:endParaRPr lang="en-US" sz="1800" dirty="0">
              <a:latin typeface="黑体" charset="0"/>
              <a:ea typeface="黑体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D8E7FF"/>
                </a:solidFill>
                <a:latin typeface="黑体" charset="0"/>
                <a:ea typeface="黑体" charset="0"/>
                <a:cs typeface="Noto Sans CJK SC" pitchFamily="34" charset="-120"/>
              </a:rPr>
              <a:t>而是用测试与证据把失败模式逼出来。</a:t>
            </a:r>
            <a:endParaRPr lang="en-US" sz="1800" dirty="0">
              <a:latin typeface="黑体" charset="0"/>
              <a:ea typeface="黑体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7948930" y="3108960"/>
            <a:ext cx="4023360" cy="1536065"/>
          </a:xfrm>
          <a:prstGeom prst="roundRect">
            <a:avLst>
              <a:gd name="adj" fmla="val 2976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058658" y="3218561"/>
            <a:ext cx="54864" cy="1316736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168386" y="3200273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每一关都可能翻车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8168640" y="3556635"/>
            <a:ext cx="3698240" cy="85026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D8E7FF"/>
                </a:solidFill>
                <a:latin typeface="黑体" charset="0"/>
                <a:ea typeface="黑体" charset="0"/>
                <a:cs typeface="Noto Sans CJK SC" pitchFamily="34" charset="-120"/>
              </a:rPr>
              <a:t>目标不清会返工；设计不完整会装不进去；联调不稳外场会更痛；数据不可信，结论就站不住。</a:t>
            </a:r>
            <a:endParaRPr lang="en-US" sz="1480" dirty="0">
              <a:solidFill>
                <a:srgbClr val="D8E7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7948930" y="5102860"/>
            <a:ext cx="4023360" cy="822960"/>
          </a:xfrm>
          <a:prstGeom prst="roundRect">
            <a:avLst>
              <a:gd name="adj" fmla="val 5556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058658" y="5185283"/>
            <a:ext cx="54864" cy="603504"/>
          </a:xfrm>
          <a:prstGeom prst="rect">
            <a:avLst/>
          </a:prstGeom>
          <a:solidFill>
            <a:srgbClr val="C79CFF"/>
          </a:solidFill>
          <a:ln w="12700">
            <a:solidFill>
              <a:srgbClr val="C79C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68386" y="5166995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过关方式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8168386" y="5404739"/>
            <a:ext cx="402336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主张 → 证据 → 解释 → 复测</a:t>
            </a:r>
            <a:endParaRPr lang="en-US" sz="170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28232"/>
            <a:ext cx="320040" cy="20116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1">
                <a:latin typeface="黑体" charset="0"/>
                <a:ea typeface="黑体" charset="0"/>
              </a:rPr>
            </a:fld>
            <a:endParaRPr lang="en-US" b="1">
              <a:latin typeface="黑体" charset="0"/>
              <a:ea typeface="黑体" charset="0"/>
            </a:endParaRPr>
          </a:p>
        </p:txBody>
      </p:sp>
      <p:sp>
        <p:nvSpPr>
          <p:cNvPr id="40" name="Shape 20"/>
          <p:cNvSpPr/>
          <p:nvPr/>
        </p:nvSpPr>
        <p:spPr>
          <a:xfrm>
            <a:off x="4321810" y="1554480"/>
            <a:ext cx="3547745" cy="4371340"/>
          </a:xfrm>
          <a:prstGeom prst="roundRect">
            <a:avLst>
              <a:gd name="adj" fmla="val 2062"/>
            </a:avLst>
          </a:prstGeom>
          <a:solidFill>
            <a:srgbClr val="0B152B">
              <a:alpha val="90000"/>
            </a:srgbClr>
          </a:solidFill>
          <a:ln w="12700">
            <a:solidFill>
              <a:srgbClr val="28446F"/>
            </a:solidFill>
            <a:prstDash val="solid"/>
          </a:ln>
          <a:effectLst>
            <a:outerShdw blurRad="19050" dist="508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Text 21"/>
          <p:cNvSpPr/>
          <p:nvPr/>
        </p:nvSpPr>
        <p:spPr>
          <a:xfrm>
            <a:off x="4586923" y="4480687"/>
            <a:ext cx="29260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课程不是抽象讲解，而是把“理解卫星”转成“完成任务”。</a:t>
            </a:r>
            <a:endParaRPr lang="en-US" sz="1600" b="1" dirty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4586923" y="5139055"/>
            <a:ext cx="28803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B457"/>
                </a:solidFill>
                <a:latin typeface="黑体" charset="0"/>
                <a:ea typeface="黑体" charset="0"/>
                <a:cs typeface="黑体" charset="0"/>
              </a:rPr>
              <a:t>认识卫星 → 理解系统 → 做出方案 → 展示成果</a:t>
            </a:r>
            <a:endParaRPr lang="en-US" sz="1250" b="1" dirty="0">
              <a:solidFill>
                <a:srgbClr val="FFB457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pic>
        <p:nvPicPr>
          <p:cNvPr id="43" name="图片 42"/>
          <p:cNvPicPr/>
          <p:nvPr/>
        </p:nvPicPr>
        <p:blipFill>
          <a:blip r:embed="rId2"/>
          <a:stretch>
            <a:fillRect/>
          </a:stretch>
        </p:blipFill>
        <p:spPr>
          <a:xfrm>
            <a:off x="4468178" y="1670685"/>
            <a:ext cx="3282950" cy="24625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space_themed_digital_illustration_shows.png"/>
          <p:cNvPicPr>
            <a:picLocks noChangeAspect="1"/>
          </p:cNvPicPr>
          <p:nvPr/>
        </p:nvPicPr>
        <p:blipFill>
          <a:blip r:embed="rId1"/>
          <a:srcRect t="7811" b="78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84048" y="256032"/>
            <a:ext cx="2423160" cy="310896"/>
          </a:xfrm>
          <a:prstGeom prst="roundRect">
            <a:avLst>
              <a:gd name="adj" fmla="val 17647"/>
            </a:avLst>
          </a:prstGeom>
          <a:solidFill>
            <a:srgbClr val="103968">
              <a:alpha val="82000"/>
            </a:srgbClr>
          </a:solidFill>
          <a:ln w="12700">
            <a:solidFill>
              <a:srgbClr val="36D7FF">
                <a:alpha val="3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84048" y="310896"/>
            <a:ext cx="2423160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TEST &gt; LUCK</a:t>
            </a:r>
            <a:endParaRPr lang="en-US" sz="15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20624" y="658368"/>
            <a:ext cx="8046720" cy="402336"/>
          </a:xfrm>
          <a:prstGeom prst="rect">
            <a:avLst/>
          </a:prstGeom>
          <a:noFill/>
          <a:effectLst>
            <a:outerShdw blurRad="2147483647" dist="2147483647" dir="4" algn="bl" rotWithShape="0">
              <a:srgbClr val="000000">
                <a:alpha val="2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真正硬核的地方：允许翻车，但不允许无记录</a:t>
            </a:r>
            <a:endParaRPr lang="en-US" sz="29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8912" y="1097280"/>
            <a:ext cx="8138160" cy="201168"/>
          </a:xfrm>
          <a:prstGeom prst="rect">
            <a:avLst/>
          </a:prstGeom>
          <a:noFill/>
          <a:effectLst>
            <a:outerShdw blurRad="2147483647" dist="2147483647" dir="2" algn="bl" rotWithShape="0">
              <a:srgbClr val="000000">
                <a:alpha val="2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测试不是为了证明“我对”，而是为了尽早暴露失败模式，再把系统做得更可靠。</a:t>
            </a:r>
            <a:endParaRPr lang="en-US" sz="146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12064" y="1664208"/>
            <a:ext cx="3511296" cy="1024128"/>
          </a:xfrm>
          <a:prstGeom prst="roundRect">
            <a:avLst>
              <a:gd name="adj" fmla="val 446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1792" y="1773936"/>
            <a:ext cx="54864" cy="804672"/>
          </a:xfrm>
          <a:prstGeom prst="rect">
            <a:avLst/>
          </a:prstGeom>
          <a:solidFill>
            <a:srgbClr val="36D7FF"/>
          </a:solidFill>
          <a:ln w="12700">
            <a:solidFill>
              <a:srgbClr val="36D7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755648"/>
            <a:ext cx="3218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桌面联调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1993392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焊接 / 烧录 / 接线 / 上电 / 排错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12064" y="2889504"/>
            <a:ext cx="3511296" cy="1024128"/>
          </a:xfrm>
          <a:prstGeom prst="roundRect">
            <a:avLst>
              <a:gd name="adj" fmla="val 446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" y="2999232"/>
            <a:ext cx="54864" cy="804672"/>
          </a:xfrm>
          <a:prstGeom prst="rect">
            <a:avLst/>
          </a:prstGeom>
          <a:solidFill>
            <a:srgbClr val="37E1C3"/>
          </a:solidFill>
          <a:ln w="12700">
            <a:solidFill>
              <a:srgbClr val="37E1C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980944"/>
            <a:ext cx="3218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地面拉距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31520" y="3218688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通信覆盖 / 丢包记录 / 参数优化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12064" y="4114800"/>
            <a:ext cx="3511296" cy="1024128"/>
          </a:xfrm>
          <a:prstGeom prst="roundRect">
            <a:avLst>
              <a:gd name="adj" fmla="val 446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" y="4224528"/>
            <a:ext cx="54864" cy="80467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4206240"/>
            <a:ext cx="321868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无人机吊飞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31520" y="4443984"/>
            <a:ext cx="3218688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开伞逻辑 / 动态链路 / 姿态数据可用性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12064" y="5449824"/>
            <a:ext cx="3511296" cy="658368"/>
          </a:xfrm>
          <a:prstGeom prst="roundRect">
            <a:avLst>
              <a:gd name="adj" fmla="val 694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1792" y="5559552"/>
            <a:ext cx="54864" cy="438912"/>
          </a:xfrm>
          <a:prstGeom prst="rect">
            <a:avLst/>
          </a:prstGeom>
          <a:solidFill>
            <a:srgbClr val="C79CFF"/>
          </a:solidFill>
          <a:ln w="12700">
            <a:solidFill>
              <a:srgbClr val="C79C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5577840"/>
            <a:ext cx="3218688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测试梯子：桌面 → 地面 → 动态外场</a:t>
            </a:r>
            <a:endParaRPr lang="en-US" sz="152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370832" y="1627632"/>
            <a:ext cx="3401568" cy="877824"/>
          </a:xfrm>
          <a:prstGeom prst="roundRect">
            <a:avLst>
              <a:gd name="adj" fmla="val 5208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80560" y="1737360"/>
            <a:ext cx="54864" cy="658368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90288" y="171907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上电失败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590288" y="1956816"/>
            <a:ext cx="310896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供电极性 / 短路 / 虚焊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8046720" y="1627632"/>
            <a:ext cx="3401568" cy="877824"/>
          </a:xfrm>
          <a:prstGeom prst="roundRect">
            <a:avLst>
              <a:gd name="adj" fmla="val 5208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156448" y="1737360"/>
            <a:ext cx="54864" cy="658368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66176" y="1719072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通信丢包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266176" y="1956816"/>
            <a:ext cx="310896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天线方向 / 参数配置 / 遮挡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4370832" y="2743200"/>
            <a:ext cx="3401568" cy="877824"/>
          </a:xfrm>
          <a:prstGeom prst="roundRect">
            <a:avLst>
              <a:gd name="adj" fmla="val 5208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480560" y="2852928"/>
            <a:ext cx="54864" cy="658368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90288" y="283464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数据漂移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590288" y="3072384"/>
            <a:ext cx="310896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标定缺失 / 温漂 / 采样率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8046720" y="2743200"/>
            <a:ext cx="3401568" cy="877824"/>
          </a:xfrm>
          <a:prstGeom prst="roundRect">
            <a:avLst>
              <a:gd name="adj" fmla="val 5208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156448" y="2852928"/>
            <a:ext cx="54864" cy="658368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66176" y="2834640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结构干涉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8266176" y="3072384"/>
            <a:ext cx="3108960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装配公差 / 线束空间 / 固定方式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4370832" y="3858768"/>
            <a:ext cx="7077456" cy="877824"/>
          </a:xfrm>
          <a:prstGeom prst="roundRect">
            <a:avLst>
              <a:gd name="adj" fmla="val 5208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480560" y="3968496"/>
            <a:ext cx="54864" cy="658368"/>
          </a:xfrm>
          <a:prstGeom prst="rect">
            <a:avLst/>
          </a:prstGeom>
          <a:solidFill>
            <a:srgbClr val="FF7A7A"/>
          </a:solidFill>
          <a:ln w="12700">
            <a:solidFill>
              <a:srgbClr val="FF7A7A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90288" y="3950208"/>
            <a:ext cx="6784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回收异常 / 记录缺失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4590288" y="4187952"/>
            <a:ext cx="6784848" cy="4937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D8E7FF"/>
                </a:solidFill>
                <a:latin typeface="黑体" charset="0"/>
                <a:ea typeface="黑体" charset="0"/>
                <a:cs typeface="Noto Sans CJK SC" pitchFamily="34" charset="-120"/>
              </a:rPr>
              <a:t>开伞逻辑没跑通，或者没有日志，等于问题无法复现，后面就没法修。</a:t>
            </a:r>
            <a:endParaRPr lang="en-US" sz="1420" dirty="0">
              <a:solidFill>
                <a:srgbClr val="D8E7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370832" y="5047488"/>
            <a:ext cx="7077456" cy="1024128"/>
          </a:xfrm>
          <a:prstGeom prst="roundRect">
            <a:avLst>
              <a:gd name="adj" fmla="val 4464"/>
            </a:avLst>
          </a:prstGeom>
          <a:solidFill>
            <a:srgbClr val="081A3A">
              <a:alpha val="88000"/>
            </a:srgbClr>
          </a:solidFill>
          <a:ln w="12700">
            <a:solidFill>
              <a:srgbClr val="4A78B5">
                <a:alpha val="48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480560" y="5157216"/>
            <a:ext cx="54864" cy="804672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590288" y="5138928"/>
            <a:ext cx="67848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黑体" charset="0"/>
                <a:ea typeface="黑体" charset="0"/>
                <a:cs typeface="Noto Sans CJK SC" pitchFamily="34" charset="-120"/>
              </a:rPr>
              <a:t>工程团队的通用闭环</a:t>
            </a:r>
            <a:endParaRPr lang="en-US" sz="1800" b="1" dirty="0">
              <a:solidFill>
                <a:srgbClr val="FFFFFF"/>
              </a:solidFill>
              <a:latin typeface="黑体" charset="0"/>
              <a:ea typeface="黑体" charset="0"/>
              <a:cs typeface="Noto Sans CJK SC" pitchFamily="34" charset="-12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4590288" y="5376672"/>
            <a:ext cx="6784848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Issue → Evidence → Fix → Retest</a:t>
            </a:r>
            <a:endParaRPr lang="en-US" sz="1520" dirty="0">
              <a:latin typeface="黑体" charset="0"/>
              <a:ea typeface="黑体" charset="0"/>
              <a:cs typeface="黑体" charset="0"/>
            </a:endParaRPr>
          </a:p>
          <a:p>
            <a:pPr marL="0" indent="0">
              <a:buNone/>
            </a:pPr>
            <a:r>
              <a:rPr lang="en-US" sz="1520" dirty="0">
                <a:solidFill>
                  <a:srgbClr val="D8E7FF"/>
                </a:solidFill>
                <a:latin typeface="黑体" charset="0"/>
                <a:ea typeface="黑体" charset="0"/>
                <a:cs typeface="黑体" charset="0"/>
              </a:rPr>
              <a:t>真正厉害的，不是从不出错，而是你有能力把错误变成下一次成功的证据。</a:t>
            </a:r>
            <a:endParaRPr lang="en-US" sz="152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67744" y="6428232"/>
            <a:ext cx="320040" cy="201168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l"/>
            <a:fld id="{F7021451-1387-4CA6-816F-3879F97B5CBC}" type="slidenum">
              <a:rPr lang="en-US" b="1">
                <a:latin typeface="黑体" charset="0"/>
                <a:ea typeface="黑体" charset="0"/>
              </a:rPr>
            </a:fld>
            <a:endParaRPr lang="en-US" b="1"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1067</Words>
  <Application>WPS 演示</Application>
  <PresentationFormat>On-screen Show (16:9)</PresentationFormat>
  <Paragraphs>135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5" baseType="lpstr">
      <vt:lpstr>Arial</vt:lpstr>
      <vt:lpstr>宋体</vt:lpstr>
      <vt:lpstr>Wingdings</vt:lpstr>
      <vt:lpstr>Noto Sans CJK SC</vt:lpstr>
      <vt:lpstr>苹方-简</vt:lpstr>
      <vt:lpstr>Noto Sans CJK SC</vt:lpstr>
      <vt:lpstr>Noto Sans CJK SC</vt:lpstr>
      <vt:lpstr>Noto Sans CJK SC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等线</vt:lpstr>
      <vt:lpstr>汉仪中等线KW</vt:lpstr>
      <vt:lpstr>微软雅黑</vt:lpstr>
      <vt:lpstr>黑体</vt:lpstr>
      <vt:lpstr>汉仪中黑KW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把立方星送上天</dc:title>
  <dc:creator>OpenAI</dc:creator>
  <dc:subject>把立方星送上天 - 高中生招生PPT</dc:subject>
  <cp:lastModifiedBy>schen</cp:lastModifiedBy>
  <cp:revision>7</cp:revision>
  <dcterms:created xsi:type="dcterms:W3CDTF">2026-03-11T11:15:06Z</dcterms:created>
  <dcterms:modified xsi:type="dcterms:W3CDTF">2026-03-11T11:15:06Z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49C56A0B2F23A74BF71AB069DBD350EF_42</vt:lpwstr>
  </property>
  <property fmtid="{D5CDD505-2E9C-101B-9397-08002B2CF9AE}" pid="3" name="KSOProductBuildVer">
    <vt:lpwstr>2052-12.1.25205.25205</vt:lpwstr>
  </property>
</Properties>
</file>